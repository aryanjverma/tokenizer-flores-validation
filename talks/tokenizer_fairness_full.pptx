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0116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Token fertility, SuperBPE, and the token tax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1089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8D6E0"/>
                </a:solidFill>
                <a:latin typeface="Calibri"/>
              </a:rPr>
              <a:t>Why some languages pay more tokens for the same meaning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303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6E0"/>
                </a:solidFill>
                <a:latin typeface="Calibri"/>
              </a:rPr>
              <a:t>Aryan Verma  ·  Frank Gonzalez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What is token fertility?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96112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A6772"/>
                </a:solidFill>
                <a:latin typeface="Calibri"/>
              </a:rPr>
              <a:t>Tokens per word — higher means more fragmentation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51560"/>
            <a:ext cx="11430000" cy="1234440"/>
          </a:xfrm>
          <a:prstGeom prst="round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F2A44"/>
                </a:solidFill>
                <a:latin typeface="Calibri"/>
              </a:rPr>
              <a:t>Fertility = (number of tokens) / (number of words)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45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Same meaning, more tokens → higher API cost, less context, harder modeling.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2468880"/>
            <a:ext cx="11430000" cy="1234440"/>
          </a:xfrm>
          <a:prstGeom prst="roundRect">
            <a:avLst/>
          </a:prstGeom>
          <a:solidFill>
            <a:srgbClr val="E8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2468880"/>
            <a:ext cx="109728" cy="1234440"/>
          </a:xfrm>
          <a:prstGeom prst="rect">
            <a:avLst/>
          </a:prstGeom>
          <a:solidFill>
            <a:srgbClr val="E06C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60604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1A1A1A"/>
                </a:solidFill>
                <a:latin typeface="Calibri"/>
              </a:rPr>
              <a:t>"Tokenization inefficiency imposes structural disadvantages on morphologically complex, low-resource languages, inflating compute resources and depressing accuracy."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33756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A6772"/>
                </a:solidFill>
                <a:latin typeface="Calibri"/>
              </a:rPr>
              <a:t>— Lundin et al., The Token Tax (arXiv:2509.05486)</a:t>
            </a:r>
          </a:p>
        </p:txBody>
      </p:sp>
      <p:pic>
        <p:nvPicPr>
          <p:cNvPr id="12" name="Picture 11" descr="token_tax_fertility_accura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4110156"/>
            <a:ext cx="11521440" cy="229528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A6772"/>
                </a:solidFill>
                <a:latin typeface="Calibri"/>
              </a:rPr>
              <a:t>Higher fertility → lower accuracy across AfriMMLU subjects (Lundin et al., 2025).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Our fertility results — BPE vs SuperBPE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96112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A6772"/>
                </a:solidFill>
                <a:latin typeface="Calibri"/>
              </a:rPr>
              <a:t>FLORES-200 · matched equal-byte 6-language tokenizers · lower is better</a:t>
            </a:r>
          </a:p>
        </p:txBody>
      </p:sp>
      <p:pic>
        <p:nvPicPr>
          <p:cNvPr id="5" name="Picture 4" descr="fertility_bpe_vs_superb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759" y="1143000"/>
            <a:ext cx="1070200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STRR — single-token retention rate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96112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A6772"/>
                </a:solidFill>
                <a:latin typeface="Calibri"/>
              </a:rPr>
              <a:t>Share of whitespace words encoded as exactly one token · higher is better</a:t>
            </a:r>
          </a:p>
        </p:txBody>
      </p:sp>
      <p:pic>
        <p:nvPicPr>
          <p:cNvPr id="5" name="Picture 4" descr="strr_bpe_vs_superb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759" y="1143000"/>
            <a:ext cx="10702000" cy="5212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A6772"/>
                </a:solidFill>
                <a:latin typeface="Calibri"/>
              </a:rPr>
              <a:t>Metric from Nayeem et al. (arXiv:2510.09947). Mandarin omitted (whitespace words N/A).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English-relative token premium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96112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A6772"/>
                </a:solidFill>
                <a:latin typeface="Calibri"/>
              </a:rPr>
              <a:t>tokens_ℓ / tokens_English on parallel FLORES text · lower is fairer</a:t>
            </a:r>
          </a:p>
        </p:txBody>
      </p:sp>
      <p:pic>
        <p:nvPicPr>
          <p:cNvPr id="5" name="Picture 4" descr="token_premium_bpe_vs_superb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759" y="1143000"/>
            <a:ext cx="1070200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BPE training time on supergigatoken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96112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A6772"/>
                </a:solidFill>
                <a:latin typeface="Calibri"/>
              </a:rPr>
              <a:t>50k vocab · 100 MB OpenWebText · train_bpe vs HuggingFace BpeTrainer</a:t>
            </a:r>
          </a:p>
        </p:txBody>
      </p:sp>
      <p:pic>
        <p:nvPicPr>
          <p:cNvPr id="5" name="Picture 4" descr="bpe_train_time_supergigatok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3262" y="1143000"/>
            <a:ext cx="893499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Phase 0 LM eval — bits/token and approx BPB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96112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A6772"/>
                </a:solidFill>
                <a:latin typeface="Calibri"/>
              </a:rPr>
              <a:t>olmo2_100M @ step7629 · lower is better · bold in table = better arm</a:t>
            </a:r>
          </a:p>
        </p:txBody>
      </p:sp>
      <p:pic>
        <p:nvPicPr>
          <p:cNvPr id="5" name="Picture 4" descr="table_bits_per_tok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458969"/>
            <a:ext cx="5760720" cy="2488700"/>
          </a:xfrm>
          <a:prstGeom prst="rect">
            <a:avLst/>
          </a:prstGeom>
        </p:spPr>
      </p:pic>
      <p:pic>
        <p:nvPicPr>
          <p:cNvPr id="6" name="Picture 5" descr="table_approx_bp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2458969"/>
            <a:ext cx="5760720" cy="24887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6355080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A6772"/>
                </a:solidFill>
                <a:latin typeface="Calibri"/>
              </a:rPr>
              <a:t>Bits / token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2200" y="6355080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A6772"/>
                </a:solidFill>
                <a:latin typeface="Calibri"/>
              </a:rPr>
              <a:t>Approx BPB (fertility-normalized)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Table — bits/token by language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96112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A6772"/>
                </a:solidFill>
                <a:latin typeface="Calibri"/>
              </a:rPr>
              <a:t>Phase 0 · BPE vs SuperBPE</a:t>
            </a:r>
          </a:p>
        </p:txBody>
      </p:sp>
      <p:pic>
        <p:nvPicPr>
          <p:cNvPr id="5" name="Picture 4" descr="table_bits_per_tok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60339"/>
            <a:ext cx="11521440" cy="4977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Table — approx BPB by language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96112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A6772"/>
                </a:solidFill>
                <a:latin typeface="Calibri"/>
              </a:rPr>
              <a:t>bits/token ÷ FLORES UTF-8 bytes/token</a:t>
            </a:r>
          </a:p>
        </p:txBody>
      </p:sp>
      <p:pic>
        <p:nvPicPr>
          <p:cNvPr id="5" name="Picture 4" descr="table_approx_b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60339"/>
            <a:ext cx="11521440" cy="4977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Bibliography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96112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A6772"/>
                </a:solidFill>
                <a:latin typeface="Calibri"/>
              </a:rPr>
              <a:t>Papers cited in this talk</a:t>
            </a:r>
          </a:p>
        </p:txBody>
      </p:sp>
      <p:sp>
        <p:nvSpPr>
          <p:cNvPr id="5" name="Oval 4"/>
          <p:cNvSpPr/>
          <p:nvPr/>
        </p:nvSpPr>
        <p:spPr>
          <a:xfrm>
            <a:off x="411480" y="1188720"/>
            <a:ext cx="411480" cy="411480"/>
          </a:xfrm>
          <a:prstGeom prst="ellipse">
            <a:avLst/>
          </a:prstGeom>
          <a:solidFill>
            <a:srgbClr val="E06C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0972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2A44"/>
                </a:solidFill>
                <a:latin typeface="Calibri"/>
              </a:rPr>
              <a:t>Lundin et al. (2025)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37160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The Token Tax: Systematic Bias in Multilingual Tokenization.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600200"/>
            <a:ext cx="10698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A6772"/>
                </a:solidFill>
                <a:latin typeface="Calibri"/>
              </a:rPr>
              <a:t>https://arxiv.org/abs/2509.05486</a:t>
            </a:r>
          </a:p>
        </p:txBody>
      </p:sp>
      <p:sp>
        <p:nvSpPr>
          <p:cNvPr id="9" name="Oval 8"/>
          <p:cNvSpPr/>
          <p:nvPr/>
        </p:nvSpPr>
        <p:spPr>
          <a:xfrm>
            <a:off x="411480" y="2057400"/>
            <a:ext cx="411480" cy="411480"/>
          </a:xfrm>
          <a:prstGeom prst="ellipse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9659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2A44"/>
                </a:solidFill>
                <a:latin typeface="Calibri"/>
              </a:rPr>
              <a:t>Petrov et al. (2023)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24028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Language Model Tokenizers Introduce Unfairness Between Languages. NeurIPS 2023.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468880"/>
            <a:ext cx="10698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A6772"/>
                </a:solidFill>
                <a:latin typeface="Calibri"/>
              </a:rPr>
              <a:t>https://arxiv.org/abs/2305.15425</a:t>
            </a:r>
          </a:p>
        </p:txBody>
      </p:sp>
      <p:sp>
        <p:nvSpPr>
          <p:cNvPr id="13" name="Oval 12"/>
          <p:cNvSpPr/>
          <p:nvPr/>
        </p:nvSpPr>
        <p:spPr>
          <a:xfrm>
            <a:off x="411480" y="2926079"/>
            <a:ext cx="411480" cy="411480"/>
          </a:xfrm>
          <a:prstGeom prst="ellipse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834639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2A44"/>
                </a:solidFill>
                <a:latin typeface="Calibri"/>
              </a:rPr>
              <a:t>Somide (2026)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108959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The African Language Tax.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337559"/>
            <a:ext cx="10698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A6772"/>
                </a:solidFill>
                <a:latin typeface="Calibri"/>
              </a:rPr>
              <a:t>https://arxiv.org/abs/2606.24460</a:t>
            </a:r>
          </a:p>
        </p:txBody>
      </p:sp>
      <p:sp>
        <p:nvSpPr>
          <p:cNvPr id="17" name="Oval 16"/>
          <p:cNvSpPr/>
          <p:nvPr/>
        </p:nvSpPr>
        <p:spPr>
          <a:xfrm>
            <a:off x="411480" y="3794760"/>
            <a:ext cx="411480" cy="411480"/>
          </a:xfrm>
          <a:prstGeom prst="ellipse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70332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2A44"/>
                </a:solidFill>
                <a:latin typeface="Calibri"/>
              </a:rPr>
              <a:t>Arnett, Chang, Biderman, Bergen (2025)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97764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Explaining and Mitigating Crosslingual Tokenizer Inequities.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206240"/>
            <a:ext cx="10698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A6772"/>
                </a:solidFill>
                <a:latin typeface="Calibri"/>
              </a:rPr>
              <a:t>https://arxiv.org/abs/2510.21909</a:t>
            </a:r>
          </a:p>
        </p:txBody>
      </p:sp>
      <p:sp>
        <p:nvSpPr>
          <p:cNvPr id="21" name="Oval 20"/>
          <p:cNvSpPr/>
          <p:nvPr/>
        </p:nvSpPr>
        <p:spPr>
          <a:xfrm>
            <a:off x="411480" y="4663440"/>
            <a:ext cx="411480" cy="411480"/>
          </a:xfrm>
          <a:prstGeom prst="ellipse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5720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2A44"/>
                </a:solidFill>
                <a:latin typeface="Calibri"/>
              </a:rPr>
              <a:t>Nayeem et al. (2025)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84632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Beyond Fertility: Analyzing STRR as a Metric for Multilingual Tokenization Evaluation.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5074920"/>
            <a:ext cx="10698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A6772"/>
                </a:solidFill>
                <a:latin typeface="Calibri"/>
              </a:rPr>
              <a:t>https://arxiv.org/abs/2510.09947</a:t>
            </a:r>
          </a:p>
        </p:txBody>
      </p:sp>
      <p:sp>
        <p:nvSpPr>
          <p:cNvPr id="25" name="Oval 24"/>
          <p:cNvSpPr/>
          <p:nvPr/>
        </p:nvSpPr>
        <p:spPr>
          <a:xfrm>
            <a:off x="411480" y="5532120"/>
            <a:ext cx="411480" cy="411480"/>
          </a:xfrm>
          <a:prstGeom prst="ellipse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4406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2A44"/>
                </a:solidFill>
                <a:latin typeface="Calibri"/>
              </a:rPr>
              <a:t>Liu et al. (2025)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571500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SuperBPE: Space Travel for Language Models.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5943600"/>
            <a:ext cx="10698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A6772"/>
                </a:solidFill>
                <a:latin typeface="Calibri"/>
              </a:rPr>
              <a:t>https://arxiv.org/abs/2503.13423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
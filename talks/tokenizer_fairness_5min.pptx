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5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Who pays the token tax?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D6E0"/>
                </a:solidFill>
                <a:latin typeface="Calibri"/>
              </a:rPr>
              <a:t>Fertility inequality, SuperBPE, and a 100M → 1B bake-off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6E0"/>
                </a:solidFill>
                <a:latin typeface="Calibri"/>
              </a:rPr>
              <a:t>Aryan Verma  ·  Frank Gonzalez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5-minute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Five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 w="1905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17320" y="2103120"/>
            <a:ext cx="914400" cy="640080"/>
          </a:xfrm>
          <a:prstGeom prst="roundRect">
            <a:avLst>
              <a:gd name="adj" fmla="val 8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A44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772"/>
                </a:solidFill>
                <a:latin typeface="Calibri"/>
              </a:rPr>
              <a:t>Same meaning → different token 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 w="1905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2103120"/>
            <a:ext cx="914400" cy="640080"/>
          </a:xfrm>
          <a:prstGeom prst="roundRect">
            <a:avLst>
              <a:gd name="adj" fmla="val 8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017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A44"/>
                </a:solidFill>
                <a:latin typeface="Calibri"/>
              </a:rPr>
              <a:t>What we 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657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772"/>
                </a:solidFill>
                <a:latin typeface="Calibri"/>
              </a:rPr>
              <a:t>FLORES premiums &amp; fertility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 w="1905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86600" y="2103120"/>
            <a:ext cx="914400" cy="640080"/>
          </a:xfrm>
          <a:prstGeom prst="roundRect">
            <a:avLst>
              <a:gd name="adj" fmla="val 8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17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A44"/>
                </a:solidFill>
                <a:latin typeface="Calibri"/>
              </a:rPr>
              <a:t>A candidate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657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772"/>
                </a:solidFill>
                <a:latin typeface="Calibri"/>
              </a:rPr>
              <a:t>SuperBPE + our Rust trainers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82880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 w="19050"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21240" y="2103120"/>
            <a:ext cx="914400" cy="640080"/>
          </a:xfrm>
          <a:prstGeom prst="roundRect">
            <a:avLst>
              <a:gd name="adj" fmla="val 8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017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A44"/>
                </a:solidFill>
                <a:latin typeface="Calibri"/>
              </a:rPr>
              <a:t>Does it help LMs?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657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772"/>
                </a:solidFill>
                <a:latin typeface="Calibri"/>
              </a:rPr>
              <a:t>100M done · 1B running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Same sentence. Different bill.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Token fertility is unequal across languages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383280" cy="438912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2A44"/>
                </a:solidFill>
                <a:latin typeface="Calibri"/>
              </a:rPr>
              <a:t>English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743200"/>
            <a:ext cx="2651760" cy="256032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3063240"/>
            <a:ext cx="2651760" cy="256032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3383280"/>
            <a:ext cx="2651760" cy="256032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03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9D8F"/>
                </a:solidFill>
                <a:latin typeface="Calibri"/>
              </a:rPr>
              <a:t>few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438912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2A44"/>
                </a:solidFill>
                <a:latin typeface="Calibri"/>
              </a:rPr>
              <a:t>Hindi / Amharic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743200"/>
            <a:ext cx="2651760" cy="256032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3063240"/>
            <a:ext cx="2651760" cy="256032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3383280"/>
            <a:ext cx="2651760" cy="256032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54880" y="3703320"/>
            <a:ext cx="2651760" cy="256032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4023360"/>
            <a:ext cx="2651760" cy="256032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0" y="4343400"/>
            <a:ext cx="2651760" cy="256032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4663440"/>
            <a:ext cx="2651760" cy="256032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5303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6C4F"/>
                </a:solidFill>
                <a:latin typeface="Calibri"/>
              </a:rPr>
              <a:t>many tokens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1554480"/>
            <a:ext cx="3383280" cy="438912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9" y="17373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2A44"/>
                </a:solidFill>
                <a:latin typeface="Calibri"/>
              </a:rPr>
              <a:t>Agglutinative
(e.g. Hungarian)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19" y="2743200"/>
            <a:ext cx="2651760" cy="256032"/>
          </a:xfrm>
          <a:prstGeom prst="roundRect">
            <a:avLst/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19" y="3063240"/>
            <a:ext cx="2651760" cy="256032"/>
          </a:xfrm>
          <a:prstGeom prst="roundRect">
            <a:avLst/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03919" y="3383280"/>
            <a:ext cx="2651760" cy="256032"/>
          </a:xfrm>
          <a:prstGeom prst="roundRect">
            <a:avLst/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03919" y="3703320"/>
            <a:ext cx="2651760" cy="256032"/>
          </a:xfrm>
          <a:prstGeom prst="roundRect">
            <a:avLst/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03919" y="4023360"/>
            <a:ext cx="2651760" cy="256032"/>
          </a:xfrm>
          <a:prstGeom prst="roundRect">
            <a:avLst/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9" y="5303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A82C"/>
                </a:solidFill>
                <a:latin typeface="Calibri"/>
              </a:rPr>
              <a:t>more pieces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772"/>
                </a:solidFill>
                <a:latin typeface="Calibri"/>
              </a:rPr>
              <a:t>API cost, context window, and training budget all track token count — not characters.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Our FLORES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English-relative token premium on parallel text</a:t>
            </a:r>
          </a:p>
        </p:txBody>
      </p:sp>
      <p:pic>
        <p:nvPicPr>
          <p:cNvPr id="5" name="Picture 4" descr="efficiency_token_premium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184571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78240" y="13716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6C4F"/>
                </a:solidFill>
                <a:latin typeface="Calibri"/>
              </a:rPr>
              <a:t>Target scripts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874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Amharic, Odia,
dialectal Arabic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9260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6C4F"/>
                </a:solidFill>
                <a:latin typeface="Calibri"/>
              </a:rPr>
              <a:t>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429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Swahili, Hausa
(Latin African)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44805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6C4F"/>
                </a:solidFill>
                <a:latin typeface="Calibri"/>
              </a:rPr>
              <a:t>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983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Premium ≥ 2 on
≥2 frontier BPEs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plain-language 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What the numbers mean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45720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64592" cy="4572000"/>
          </a:xfrm>
          <a:prstGeom prst="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A44"/>
                </a:solidFill>
                <a:latin typeface="Calibri"/>
              </a:rPr>
              <a:t>Token premium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How many more tokens
than English for the
same meaning?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772"/>
                </a:solidFill>
                <a:latin typeface="Calibri"/>
              </a:rPr>
              <a:t>1.0 = fair
2.0 = 2× English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566160" cy="45720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164592" cy="457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A44"/>
                </a:solidFill>
                <a:latin typeface="Calibri"/>
              </a:rPr>
              <a:t>Fertility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688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How many tokens per
word (or character
unit)?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389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772"/>
                </a:solidFill>
                <a:latin typeface="Calibri"/>
              </a:rPr>
              <a:t>Lower = packs more
meaning per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63040"/>
            <a:ext cx="3566160" cy="45720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164592" cy="4572000"/>
          </a:xfrm>
          <a:prstGeom prst="rect">
            <a:avLst/>
          </a:prstGeom>
          <a:solidFill>
            <a:srgbClr val="26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A44"/>
                </a:solidFill>
                <a:latin typeface="Calibri"/>
              </a:rPr>
              <a:t>Bits / byte (BPB)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688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How hard is the text
to predict, per byte?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389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772"/>
                </a:solidFill>
                <a:latin typeface="Calibri"/>
              </a:rPr>
              <a:t>Fairer than bits/token
when tokens differ in length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BPE overcharges some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Frequency + UTF-8 conspire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26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Train on
English-heavy web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86200" y="2514600"/>
            <a:ext cx="411480" cy="502920"/>
          </a:xfrm>
          <a:prstGeom prst="rightArrow">
            <a:avLst/>
          </a:prstGeom>
          <a:solidFill>
            <a:srgbClr val="5A6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Merges favor
frequent Latin pieces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26680" y="2514600"/>
            <a:ext cx="411480" cy="502920"/>
          </a:xfrm>
          <a:prstGeom prst="rightArrow">
            <a:avLst/>
          </a:prstGeom>
          <a:solidFill>
            <a:srgbClr val="5A6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Rare scripts stay
as tiny fragments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→  BPE learns what it sees often — English digraphs win the vocab lottery.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→  UTF-8: non-Latin characters already cost more bytes before merges even start.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7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→  Whitespace pretok keeps one token = one word-ish unit — no multi-word packing.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SuperBPE: lift the word 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Liu et al.,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20240" y="169164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26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Stage 1 — ordinary BPE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Whitespace-pretokenized
Learn subwords inside 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40480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3840480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the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840480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United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840480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A6772"/>
                </a:solidFill>
                <a:latin typeface="Calibri"/>
              </a:rPr>
              <a:t>4 tokens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52160" y="3200400"/>
            <a:ext cx="548640" cy="502920"/>
          </a:xfrm>
          <a:prstGeom prst="rightArrow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146304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0" y="169164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Stage 2 — superwords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4688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Whitespace restriction lifted
Learn multi-word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84048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of the United States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754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6C4F"/>
                </a:solidFill>
                <a:latin typeface="Calibri"/>
              </a:rPr>
              <a:t>1 token  ·  same meaning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Matched BPE vs SuperBPE on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Equal-byte 6-language train · same vocab size</a:t>
            </a:r>
          </a:p>
        </p:txBody>
      </p:sp>
      <p:pic>
        <p:nvPicPr>
          <p:cNvPr id="5" name="Picture 4" descr="plan_a_flores_suit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4655127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463040"/>
            <a:ext cx="3200400" cy="201168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9D8F"/>
                </a:solidFill>
                <a:latin typeface="Calibri"/>
              </a:rPr>
              <a:t>Fertility 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19456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Fewer tokens/word for every whitespace language (Haitian, Hindi, …)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3749039"/>
            <a:ext cx="3200400" cy="219456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3931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06C4F"/>
                </a:solidFill>
                <a:latin typeface="Calibri"/>
              </a:rPr>
              <a:t>Premium mixed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44805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Mandarin &amp; Hungarian get worse vs English — choice is language-conditional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supergigatoken — how we train &amp; 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Rust fork of gigatoken · native SuperBPE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A44"/>
                </a:solidFill>
                <a:latin typeface="Calibri"/>
              </a:rPr>
              <a:t>Trainers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108960" cy="640080"/>
          </a:xfrm>
          <a:prstGeom prst="roundRect">
            <a:avLst>
              <a:gd name="adj" fmla="val 8000"/>
            </a:avLst>
          </a:prstGeom>
          <a:solidFill>
            <a:srgbClr val="26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train_bpe  (gigatoken)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3108960" cy="640080"/>
          </a:xfrm>
          <a:prstGeom prst="roundRect">
            <a:avLst>
              <a:gd name="adj" fmla="val 8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train_superbpe  (fork)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772"/>
                </a:solidFill>
                <a:latin typeface="Calibri"/>
              </a:rPr>
              <a:t>Two-stage: subwords → superwords
Same vocab target as BPE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A44"/>
                </a:solidFill>
                <a:latin typeface="Calibri"/>
              </a:rPr>
              <a:t>Encoder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94560"/>
            <a:ext cx="3108960" cy="64008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Level 1 · cached subwords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9280" y="3017520"/>
            <a:ext cx="822960" cy="365760"/>
          </a:xfrm>
          <a:prstGeom prst="rightArrow">
            <a:avLst/>
          </a:prstGeom>
          <a:solidFill>
            <a:srgbClr val="5A6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3566160"/>
            <a:ext cx="3108960" cy="640080"/>
          </a:xfrm>
          <a:prstGeom prst="roundRect">
            <a:avLst>
              <a:gd name="adj" fmla="val 8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Level 2 · superword merges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572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772"/>
                </a:solidFill>
                <a:latin typeface="Calibri"/>
              </a:rPr>
              <a:t>Bit-identical to full byte merge
Recovers most of BPE speed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A44"/>
                </a:solidFill>
                <a:latin typeface="Calibri"/>
              </a:rPr>
              <a:t>Eval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Encoding 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Encoding throughput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Trainer vs HF / original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Vocab overlap (Jaccard)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Same vocab: ~21% fewer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50k SuperBPE vs 50k BPE · OpenWebText held-out</a:t>
            </a:r>
          </a:p>
        </p:txBody>
      </p:sp>
      <p:pic>
        <p:nvPicPr>
          <p:cNvPr id="5" name="Picture 4" descr="superbpe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2327467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95360" y="1828800"/>
            <a:ext cx="3291840" cy="347472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44"/>
                </a:solidFill>
                <a:latin typeface="Calibri"/>
              </a:rPr>
              <a:t>Matched 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651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SuperBPE  5.67 B/tok
BPE           4.49 B/tok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74903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6C4F"/>
                </a:solidFill>
                <a:latin typeface="Calibri"/>
              </a:rPr>
              <a:t>→ 20.7% fewer tokens
for the same 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Fast enough to 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Train &amp; encode vs HuggingFace / original SuperBPE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06C4F"/>
                </a:solidFill>
                <a:latin typeface="Calibri"/>
              </a:rPr>
              <a:t>8×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faster SuperBPE train
vs original impl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A9D8F"/>
                </a:solidFill>
                <a:latin typeface="Calibri"/>
              </a:rPr>
              <a:t>116×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51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faster SuperBPE encode
vs HuggingFace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64B6E"/>
                </a:solidFill>
                <a:latin typeface="Calibri"/>
              </a:rPr>
              <a:t>3.8×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51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faster plain BPE train
vs HF BpeTrainer</a:t>
            </a:r>
          </a:p>
        </p:txBody>
      </p:sp>
      <p:pic>
        <p:nvPicPr>
          <p:cNvPr id="14" name="Picture 13" descr="superbpe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977639"/>
            <a:ext cx="4532243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Does it help language models?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Phase 0 · 100M OLMo 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28600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26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Equal-token FineWeb
6 languages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4680" y="3200400"/>
            <a:ext cx="274320" cy="365760"/>
          </a:xfrm>
          <a:prstGeom prst="rightArrow">
            <a:avLst/>
          </a:prstGeom>
          <a:solidFill>
            <a:srgbClr val="5A6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86200" y="228600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olmo2_100M
matched steps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80760" y="3200400"/>
            <a:ext cx="274320" cy="365760"/>
          </a:xfrm>
          <a:prstGeom prst="rightArrow">
            <a:avLst/>
          </a:prstGeom>
          <a:solidFill>
            <a:srgbClr val="5A6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01168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12280" y="228600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Tokenizers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gigatoken BPE
supergigatoken SuperBPE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006840" y="3200400"/>
            <a:ext cx="274320" cy="365760"/>
          </a:xfrm>
          <a:prstGeom prst="rightArrow">
            <a:avLst/>
          </a:prstGeom>
          <a:solidFill>
            <a:srgbClr val="5A6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01168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38360" y="228600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Readout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1089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bits/token
+ approx BPB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772"/>
                </a:solidFill>
                <a:latin typeface="Calibri"/>
              </a:rPr>
              <a:t>Caveat: equal-token matching + bits/token bias against longer SuperBPE tokens → we also report fertility-normalized approx BPB.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100M results — the gap shrinks when fair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Raw bits/token vs fertility-normalized approx BPB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A44"/>
                </a:solidFill>
                <a:latin typeface="Calibri"/>
              </a:rPr>
              <a:t>Raw bits /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772"/>
                </a:solidFill>
                <a:latin typeface="Calibri"/>
              </a:rPr>
              <a:t>Favors shorter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4B6E"/>
                </a:solidFill>
                <a:latin typeface="Calibri"/>
              </a:rPr>
              <a:t>BPE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2834640"/>
            <a:ext cx="2926080" cy="411480"/>
          </a:xfrm>
          <a:prstGeom prst="roundRect">
            <a:avLst/>
          </a:prstGeom>
          <a:solidFill>
            <a:srgbClr val="26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5.45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6C4F"/>
                </a:solidFill>
                <a:latin typeface="Calibri"/>
              </a:rPr>
              <a:t>SuperBPE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566160"/>
            <a:ext cx="3383280" cy="41148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6.29   (+0.84)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BPE wins on 5/6 languages.
Chinese ≈ tie.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A44"/>
                </a:solidFill>
                <a:latin typeface="Calibri"/>
              </a:rPr>
              <a:t>Approx BPB (fairer)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772"/>
                </a:solidFill>
                <a:latin typeface="Calibri"/>
              </a:rPr>
              <a:t>bits/token ÷ UTF-8 bytes/token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4B6E"/>
                </a:solidFill>
                <a:latin typeface="Calibri"/>
              </a:rPr>
              <a:t>BPE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834640"/>
            <a:ext cx="2926080" cy="411480"/>
          </a:xfrm>
          <a:prstGeom prst="roundRect">
            <a:avLst/>
          </a:prstGeom>
          <a:solidFill>
            <a:srgbClr val="26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1.061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6C4F"/>
                </a:solidFill>
                <a:latin typeface="Calibri"/>
              </a:rPr>
              <a:t>SuperBPE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566160"/>
            <a:ext cx="3063240" cy="41148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61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1.085   (+0.025)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572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Gap mostly collapses.
Haitian Creole: SuperBPE slightly better.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Next: 1B equal-bytes / equal-FLOPs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True BPB — the decision metric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A44"/>
                </a:solidFill>
                <a:latin typeface="Calibri"/>
              </a:rPr>
              <a:t>Phase 0 is a pilot — not a cancel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Raw bits/token looked bleak; fertility-normalized BPB says “keep going.”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A44"/>
                </a:solidFill>
                <a:latin typeface="Calibri"/>
              </a:rPr>
              <a:t>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772"/>
                </a:solidFill>
                <a:latin typeface="Calibri"/>
              </a:rPr>
              <a:t>olmo2_1B · ~20B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8404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A44"/>
                </a:solidFill>
                <a:latin typeface="Calibri"/>
              </a:rPr>
              <a:t>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772"/>
                </a:solidFill>
                <a:latin typeface="Calibri"/>
              </a:rPr>
              <a:t>Equal bytes → equal FLOPs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404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A44"/>
                </a:solidFill>
                <a:latin typeface="Calibri"/>
              </a:rPr>
              <a:t>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772"/>
                </a:solidFill>
                <a:latin typeface="Calibri"/>
              </a:rPr>
              <a:t>True UTF-8 BPB on val / FLORES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8404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6E0"/>
                </a:solidFill>
                <a:latin typeface="Calibri"/>
              </a:rPr>
              <a:t>Training in progress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3716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600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Languages pay unequal token taxes under frontier BPEs.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5146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743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SuperBPE packs more text per token — but not uniformly fairer.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26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36576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3886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100M: raw bits/token scared us; approx BPB mostly closed the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006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8006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5029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1B equal-FLOPs BPB is the real go/no-go — running now.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772"/>
                </a:solidFill>
                <a:latin typeface="Calibri"/>
              </a:rPr>
              <a:t>Key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[1]  Liu et al. (2025). SuperBPE: Space Travel for Language Models. arXiv:2503.13423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39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[2]  Arnett &amp; Bergen (2025). Why do language models perform worse for morphologically complex languages? / token premiums on FLORES.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[3]  Goyal et al. (2022); NLLB (2022). FLORES-200 parallel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399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[4]  Penedo et al. (2024/2025). FineWeb / FineWeb-2 web corpora.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79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[5]  Chowdhury &amp; Woolf (2026). Benchmarking SuperBPE (BPB evidence on Mandarin/Hungarian).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[6]  gigatoken (Roed et al.) — fast Rust BPE; supergigatoken — SuperBPE fork (this work).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[7]  OLMo / OLMo-core (Ai2) — training stack for Phase 0 / Plan 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